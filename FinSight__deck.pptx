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an advisor types a ticker, and a team of AI agents does the research a junior analyst would do, then checks its own work before the advisor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from the wealth management firm: help advisors quickly get up to speed on a stock, fetching current quote data and summarizing key information from recent SEC filings. Fill in the hours figure only with a real number from interviews or 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maps to a specific agent or check later in the deck: scattered data to the tools layer, dense filings to the filings and risk analysts, accuracy to XBRL numbers plus the evaluator, compliance to the compliance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splitting the work lets each agent have a narrow job, a small prompt and its own output schema. That makes each step easier to test, cheaper, and easier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Step 1 uses no LLM at all: it is plain code calling SEC EDGAR and Finnhub. Step 2 runs four Claude agents at the same time with Promise.all. Step 3 is sequential: the writer merges the four analyses, the compliance reviewer rewrites anything that sounds like advice, and the evaluator grades the result against the raw source data. The app shows each step live as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agents run on Claude Sonnet 5.5 through the Anthropic SDK. Each one returns schema-validated JSON (structured outputs), so the app can render the result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“why should a regulated firm trust this?”. Numbers are not generated, advice-like language is removed by a dedicated agent, and every risk carries a verbatim quote from the filing so the advisor can verify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cheap deterministic checks, an LLM-as-judge on every briefing, and an offline golden set of five tickers for regression testing. Tracing and advisor feedback close the loop. If you have results from a golden-set run, add the score table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demo. Sign in with the test account, type NVDA (or any US-listed ticker), and narrate the progress steps as each agent runs. Then scroll through the briefing: snapshot, financials, business, risks, talking points, disclaimer, and finally the evaluator scores. Have the interactive demo page open as a backup in case the network or API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app only displays results; the Node API owns the agents and the data, and runs each briefing in the background while the app shows progress; Supabase stores everything per user. The same Expo code ships as the web app on Render and as a phone app through Expo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new capability is one more specialist agent plugged into the same orchestrator, so the system grows without the prompts getting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points: specialists instead of one prompt, numbers from SEC data rather than the model, and every briefing compliance-checked and scored.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81761"/>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1323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212341"/>
            <a:ext cx="10566400" cy="3832859"/>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81761"/>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1323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212341"/>
            <a:ext cx="10566400" cy="3832859"/>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A441"/>
          </a:soli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D9A441"/>
                </a:solidFill>
                <a:latin typeface="IBM Plex Sans" pitchFamily="34" charset="0"/>
                <a:ea typeface="IBM Plex Sans" pitchFamily="34" charset="-122"/>
                <a:cs typeface="IBM Plex Sans" pitchFamily="34" charset="-120"/>
              </a:rPr>
              <a:t>SYNAPS · WEALTH MANAGEMENT AI</a:t>
            </a:r>
            <a:endParaRPr lang="en-US" sz="1200" dirty="0"/>
          </a:p>
        </p:txBody>
      </p:sp>
      <p:sp>
        <p:nvSpPr>
          <p:cNvPr id="4" name="Text 2"/>
          <p:cNvSpPr/>
          <p:nvPr>
            <p:ph type="title"/>
          </p:nvPr>
        </p:nvSpPr>
        <p:spPr>
          <a:xfrm>
            <a:off x="812800" y="25387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Source Serif 4" pitchFamily="18" charset="0"/>
                <a:ea typeface="Source Serif 4" pitchFamily="18" charset="-122"/>
                <a:cs typeface="Source Serif 4" pitchFamily="18" charset="-120"/>
              </a:rPr>
              <a:t>FinSight</a:t>
            </a:r>
            <a:endParaRPr lang="en-US" sz="6000" dirty="0"/>
          </a:p>
        </p:txBody>
      </p:sp>
      <p:sp>
        <p:nvSpPr>
          <p:cNvPr id="5" name="Text 3"/>
          <p:cNvSpPr/>
          <p:nvPr/>
        </p:nvSpPr>
        <p:spPr>
          <a:xfrm>
            <a:off x="812800" y="359283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0"/>
                </a:solidFill>
                <a:latin typeface="IBM Plex Sans" pitchFamily="34" charset="0"/>
                <a:ea typeface="IBM Plex Sans" pitchFamily="34" charset="-122"/>
                <a:cs typeface="IBM Plex Sans" pitchFamily="34" charset="-120"/>
              </a:rPr>
              <a:t>Seven AI agents that turn a ticker into a cited, compliance-checked stock briefing for financial advisors.</a:t>
            </a:r>
            <a:endParaRPr lang="en-US" sz="2200" dirty="0"/>
          </a:p>
        </p:txBody>
      </p:sp>
      <p:sp>
        <p:nvSpPr>
          <p:cNvPr id="6" name="Text 4"/>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[Presenter name] · [Event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12"/>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381760"/>
            <a:ext cx="9810750" cy="160274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33A"/>
                </a:solidFill>
                <a:latin typeface="Source Serif 4" pitchFamily="18" charset="0"/>
                <a:ea typeface="Source Serif 4" pitchFamily="18" charset="-122"/>
                <a:cs typeface="Source Serif 4" pitchFamily="18" charset="-120"/>
              </a:rPr>
              <a:t>A client asks about a stock. The advisor has minutes, and the answer is buried in hundreds of pages of SEC filings.</a:t>
            </a:r>
            <a:endParaRPr lang="en-US" sz="3600" dirty="0"/>
          </a:p>
        </p:txBody>
      </p:sp>
      <p:sp>
        <p:nvSpPr>
          <p:cNvPr id="4" name="Shape 2"/>
          <p:cNvSpPr/>
          <p:nvPr/>
        </p:nvSpPr>
        <p:spPr>
          <a:xfrm>
            <a:off x="812800" y="4366260"/>
            <a:ext cx="3318907" cy="0"/>
          </a:xfrm>
          <a:prstGeom prst="line">
            <a:avLst/>
          </a:prstGeom>
          <a:noFill/>
          <a:ln w="25400">
            <a:solidFill>
              <a:srgbClr val="13233A"/>
            </a:solidFill>
            <a:prstDash val="solid"/>
          </a:ln>
        </p:spPr>
      </p:sp>
      <p:sp>
        <p:nvSpPr>
          <p:cNvPr id="5" name="Text 3"/>
          <p:cNvSpPr/>
          <p:nvPr/>
        </p:nvSpPr>
        <p:spPr>
          <a:xfrm>
            <a:off x="812800" y="4582160"/>
            <a:ext cx="3418474"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3233A"/>
                </a:solidFill>
                <a:latin typeface="Source Serif 4" pitchFamily="18" charset="0"/>
                <a:ea typeface="Source Serif 4" pitchFamily="18" charset="-122"/>
                <a:cs typeface="Source Serif 4" pitchFamily="18" charset="-120"/>
              </a:rPr>
              <a:t>[__ hrs]</a:t>
            </a:r>
            <a:endParaRPr lang="en-US" sz="3600" dirty="0"/>
          </a:p>
        </p:txBody>
      </p:sp>
      <p:sp>
        <p:nvSpPr>
          <p:cNvPr id="6" name="Text 4"/>
          <p:cNvSpPr/>
          <p:nvPr/>
        </p:nvSpPr>
        <p:spPr>
          <a:xfrm>
            <a:off x="812800" y="5273040"/>
            <a:ext cx="341847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to research one stock by hand</a:t>
            </a:r>
            <a:endParaRPr lang="en-US" sz="1600" dirty="0"/>
          </a:p>
        </p:txBody>
      </p:sp>
      <p:sp>
        <p:nvSpPr>
          <p:cNvPr id="7" name="Shape 5"/>
          <p:cNvSpPr/>
          <p:nvPr/>
        </p:nvSpPr>
        <p:spPr>
          <a:xfrm>
            <a:off x="4436507" y="4366260"/>
            <a:ext cx="3318986" cy="0"/>
          </a:xfrm>
          <a:prstGeom prst="line">
            <a:avLst/>
          </a:prstGeom>
          <a:noFill/>
          <a:ln w="25400">
            <a:solidFill>
              <a:srgbClr val="13233A"/>
            </a:solidFill>
            <a:prstDash val="solid"/>
          </a:ln>
        </p:spPr>
      </p:sp>
      <p:sp>
        <p:nvSpPr>
          <p:cNvPr id="8" name="Text 6"/>
          <p:cNvSpPr/>
          <p:nvPr/>
        </p:nvSpPr>
        <p:spPr>
          <a:xfrm>
            <a:off x="4436507" y="4582160"/>
            <a:ext cx="3418556"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3233A"/>
                </a:solidFill>
                <a:latin typeface="Source Serif 4" pitchFamily="18" charset="0"/>
                <a:ea typeface="Source Serif 4" pitchFamily="18" charset="-122"/>
                <a:cs typeface="Source Serif 4" pitchFamily="18" charset="-120"/>
              </a:rPr>
              <a:t>5+ sources</a:t>
            </a:r>
            <a:endParaRPr lang="en-US" sz="3600" dirty="0"/>
          </a:p>
        </p:txBody>
      </p:sp>
      <p:sp>
        <p:nvSpPr>
          <p:cNvPr id="9" name="Text 7"/>
          <p:cNvSpPr/>
          <p:nvPr/>
        </p:nvSpPr>
        <p:spPr>
          <a:xfrm>
            <a:off x="4436507" y="5273040"/>
            <a:ext cx="341855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quote, 10-K, 10-Q, 8-Ks, XBRL financials</a:t>
            </a:r>
            <a:endParaRPr lang="en-US" sz="1600" dirty="0"/>
          </a:p>
        </p:txBody>
      </p:sp>
      <p:sp>
        <p:nvSpPr>
          <p:cNvPr id="10" name="Shape 8"/>
          <p:cNvSpPr/>
          <p:nvPr/>
        </p:nvSpPr>
        <p:spPr>
          <a:xfrm>
            <a:off x="8060293" y="4366260"/>
            <a:ext cx="3318907" cy="0"/>
          </a:xfrm>
          <a:prstGeom prst="line">
            <a:avLst/>
          </a:prstGeom>
          <a:noFill/>
          <a:ln w="25400">
            <a:solidFill>
              <a:srgbClr val="13233A"/>
            </a:solidFill>
            <a:prstDash val="solid"/>
          </a:ln>
        </p:spPr>
      </p:sp>
      <p:sp>
        <p:nvSpPr>
          <p:cNvPr id="11" name="Text 9"/>
          <p:cNvSpPr/>
          <p:nvPr/>
        </p:nvSpPr>
        <p:spPr>
          <a:xfrm>
            <a:off x="8060293" y="4582160"/>
            <a:ext cx="3418474"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3233A"/>
                </a:solidFill>
                <a:latin typeface="Source Serif 4" pitchFamily="18" charset="0"/>
                <a:ea typeface="Source Serif 4" pitchFamily="18" charset="-122"/>
                <a:cs typeface="Source Serif 4" pitchFamily="18" charset="-120"/>
              </a:rPr>
              <a:t>0 room</a:t>
            </a:r>
            <a:endParaRPr lang="en-US" sz="3600" dirty="0"/>
          </a:p>
        </p:txBody>
      </p:sp>
      <p:sp>
        <p:nvSpPr>
          <p:cNvPr id="12" name="Text 10"/>
          <p:cNvSpPr/>
          <p:nvPr/>
        </p:nvSpPr>
        <p:spPr>
          <a:xfrm>
            <a:off x="8060293" y="5273040"/>
            <a:ext cx="341847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for a wrong number or a stray “buy”</a:t>
            </a:r>
            <a:endParaRPr lang="en-US" sz="1600" dirty="0"/>
          </a:p>
        </p:txBody>
      </p:sp>
      <p:sp>
        <p:nvSpPr>
          <p:cNvPr id="13" name="Text 11"/>
          <p:cNvSpPr/>
          <p:nvPr/>
        </p:nvSpPr>
        <p:spPr>
          <a:xfrm>
            <a:off x="812800" y="6238241"/>
            <a:ext cx="62073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[Replace the hours figure with one from advisor interviews or a cited survey]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12"/>
                </a:solidFill>
                <a:latin typeface="IBM Plex Sans" pitchFamily="34" charset="0"/>
                <a:ea typeface="IBM Plex Sans" pitchFamily="34" charset="-122"/>
                <a:cs typeface="IBM Plex Sans" pitchFamily="34" charset="-120"/>
              </a:rPr>
              <a:t>FOUR PROBLEMS WE SOLVE</a:t>
            </a:r>
            <a:endParaRPr lang="en-US" sz="1200" dirty="0"/>
          </a:p>
        </p:txBody>
      </p:sp>
      <p:sp>
        <p:nvSpPr>
          <p:cNvPr id="3" name="Text 1"/>
          <p:cNvSpPr/>
          <p:nvPr>
            <p:ph type="title"/>
          </p:nvPr>
        </p:nvSpPr>
        <p:spPr>
          <a:xfrm>
            <a:off x="812800" y="13817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33A"/>
                </a:solidFill>
                <a:latin typeface="Source Serif 4" pitchFamily="18" charset="0"/>
                <a:ea typeface="Source Serif 4" pitchFamily="18" charset="-122"/>
                <a:cs typeface="Source Serif 4" pitchFamily="18" charset="-120"/>
              </a:rPr>
              <a:t>Why getting up to speed is hard today</a:t>
            </a:r>
            <a:endParaRPr lang="en-US" sz="3600" dirty="0"/>
          </a:p>
        </p:txBody>
      </p:sp>
      <p:sp>
        <p:nvSpPr>
          <p:cNvPr id="4" name="Shape 2"/>
          <p:cNvSpPr/>
          <p:nvPr/>
        </p:nvSpPr>
        <p:spPr>
          <a:xfrm>
            <a:off x="815975" y="2266316"/>
            <a:ext cx="5175250" cy="1492250"/>
          </a:xfrm>
          <a:prstGeom prst="roundRect">
            <a:avLst>
              <a:gd name="adj" fmla="val 6596"/>
            </a:avLst>
          </a:prstGeom>
          <a:solidFill>
            <a:srgbClr val="FFFDF8"/>
          </a:solidFill>
          <a:ln w="6350">
            <a:solidFill>
              <a:srgbClr val="DDD6C8"/>
            </a:solidFill>
            <a:prstDash val="solid"/>
          </a:ln>
        </p:spPr>
      </p:sp>
      <p:sp>
        <p:nvSpPr>
          <p:cNvPr id="5" name="Text 3"/>
          <p:cNvSpPr/>
          <p:nvPr/>
        </p:nvSpPr>
        <p:spPr>
          <a:xfrm>
            <a:off x="1071880" y="2522220"/>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Scattered data</a:t>
            </a:r>
            <a:endParaRPr lang="en-US" sz="2200" dirty="0"/>
          </a:p>
        </p:txBody>
      </p:sp>
      <p:sp>
        <p:nvSpPr>
          <p:cNvPr id="6" name="Text 4"/>
          <p:cNvSpPr/>
          <p:nvPr/>
        </p:nvSpPr>
        <p:spPr>
          <a:xfrm>
            <a:off x="1071880" y="2933700"/>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Prices live in one tool, filings on EDGAR, financials in XBRL. Advisors stitch them together by hand.</a:t>
            </a:r>
            <a:endParaRPr lang="en-US" sz="1600" dirty="0"/>
          </a:p>
        </p:txBody>
      </p:sp>
      <p:sp>
        <p:nvSpPr>
          <p:cNvPr id="7" name="Shape 5"/>
          <p:cNvSpPr/>
          <p:nvPr/>
        </p:nvSpPr>
        <p:spPr>
          <a:xfrm>
            <a:off x="6200775" y="2266316"/>
            <a:ext cx="5175250" cy="1492250"/>
          </a:xfrm>
          <a:prstGeom prst="roundRect">
            <a:avLst>
              <a:gd name="adj" fmla="val 6596"/>
            </a:avLst>
          </a:prstGeom>
          <a:solidFill>
            <a:srgbClr val="FFFDF8"/>
          </a:solidFill>
          <a:ln w="6350">
            <a:solidFill>
              <a:srgbClr val="DDD6C8"/>
            </a:solidFill>
            <a:prstDash val="solid"/>
          </a:ln>
        </p:spPr>
      </p:sp>
      <p:sp>
        <p:nvSpPr>
          <p:cNvPr id="8" name="Text 6"/>
          <p:cNvSpPr/>
          <p:nvPr/>
        </p:nvSpPr>
        <p:spPr>
          <a:xfrm>
            <a:off x="6456680" y="2522220"/>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Dense filings</a:t>
            </a:r>
            <a:endParaRPr lang="en-US" sz="2200" dirty="0"/>
          </a:p>
        </p:txBody>
      </p:sp>
      <p:sp>
        <p:nvSpPr>
          <p:cNvPr id="9" name="Text 7"/>
          <p:cNvSpPr/>
          <p:nvPr/>
        </p:nvSpPr>
        <p:spPr>
          <a:xfrm>
            <a:off x="6456680" y="2933700"/>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The useful parts (risk factors, MD&amp;A, recent 8-Ks) are long and written for lawyers, not client calls.</a:t>
            </a:r>
            <a:endParaRPr lang="en-US" sz="1600" dirty="0"/>
          </a:p>
        </p:txBody>
      </p:sp>
      <p:sp>
        <p:nvSpPr>
          <p:cNvPr id="10" name="Shape 8"/>
          <p:cNvSpPr/>
          <p:nvPr/>
        </p:nvSpPr>
        <p:spPr>
          <a:xfrm>
            <a:off x="815975" y="3968116"/>
            <a:ext cx="5175250" cy="1492250"/>
          </a:xfrm>
          <a:prstGeom prst="roundRect">
            <a:avLst>
              <a:gd name="adj" fmla="val 6596"/>
            </a:avLst>
          </a:prstGeom>
          <a:solidFill>
            <a:srgbClr val="FFFDF8"/>
          </a:solidFill>
          <a:ln w="6350">
            <a:solidFill>
              <a:srgbClr val="DDD6C8"/>
            </a:solidFill>
            <a:prstDash val="solid"/>
          </a:ln>
        </p:spPr>
      </p:sp>
      <p:sp>
        <p:nvSpPr>
          <p:cNvPr id="11" name="Text 9"/>
          <p:cNvSpPr/>
          <p:nvPr/>
        </p:nvSpPr>
        <p:spPr>
          <a:xfrm>
            <a:off x="1071880" y="4224020"/>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Accuracy risk</a:t>
            </a:r>
            <a:endParaRPr lang="en-US" sz="2200" dirty="0"/>
          </a:p>
        </p:txBody>
      </p:sp>
      <p:sp>
        <p:nvSpPr>
          <p:cNvPr id="12" name="Text 10"/>
          <p:cNvSpPr/>
          <p:nvPr/>
        </p:nvSpPr>
        <p:spPr>
          <a:xfrm>
            <a:off x="1071880" y="4635500"/>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 generic chatbot can invent a revenue figure. In front of a client, that costs trust.</a:t>
            </a:r>
            <a:endParaRPr lang="en-US" sz="1600" dirty="0"/>
          </a:p>
        </p:txBody>
      </p:sp>
      <p:sp>
        <p:nvSpPr>
          <p:cNvPr id="13" name="Shape 11"/>
          <p:cNvSpPr/>
          <p:nvPr/>
        </p:nvSpPr>
        <p:spPr>
          <a:xfrm>
            <a:off x="6200775" y="3968116"/>
            <a:ext cx="5175250" cy="1492250"/>
          </a:xfrm>
          <a:prstGeom prst="roundRect">
            <a:avLst>
              <a:gd name="adj" fmla="val 6596"/>
            </a:avLst>
          </a:prstGeom>
          <a:solidFill>
            <a:srgbClr val="FFFDF8"/>
          </a:solidFill>
          <a:ln w="6350">
            <a:solidFill>
              <a:srgbClr val="DDD6C8"/>
            </a:solidFill>
            <a:prstDash val="solid"/>
          </a:ln>
        </p:spPr>
      </p:sp>
      <p:sp>
        <p:nvSpPr>
          <p:cNvPr id="14" name="Text 12"/>
          <p:cNvSpPr/>
          <p:nvPr/>
        </p:nvSpPr>
        <p:spPr>
          <a:xfrm>
            <a:off x="6456680" y="4224020"/>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Compliance risk</a:t>
            </a:r>
            <a:endParaRPr lang="en-US" sz="2200" dirty="0"/>
          </a:p>
        </p:txBody>
      </p:sp>
      <p:sp>
        <p:nvSpPr>
          <p:cNvPr id="15" name="Text 13"/>
          <p:cNvSpPr/>
          <p:nvPr/>
        </p:nvSpPr>
        <p:spPr>
          <a:xfrm>
            <a:off x="6456680" y="4635500"/>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Advisors can’t pass on buy/sell calls, price targets or guarantees from an AI tool.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210"/>
                </a:solidFill>
                <a:latin typeface="IBM Plex Sans" pitchFamily="34" charset="0"/>
                <a:ea typeface="IBM Plex Sans" pitchFamily="34" charset="-122"/>
                <a:cs typeface="IBM Plex Sans" pitchFamily="34" charset="-120"/>
              </a:rPr>
              <a:t>WHY MULTI-AGENT</a:t>
            </a:r>
            <a:endParaRPr lang="en-US" sz="1200" dirty="0"/>
          </a:p>
        </p:txBody>
      </p:sp>
      <p:sp>
        <p:nvSpPr>
          <p:cNvPr id="3" name="Text 1"/>
          <p:cNvSpPr/>
          <p:nvPr>
            <p:ph type="title"/>
          </p:nvPr>
        </p:nvSpPr>
        <p:spPr>
          <a:xfrm>
            <a:off x="812800" y="13817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33A"/>
                </a:solidFill>
                <a:latin typeface="Source Serif 4" pitchFamily="18" charset="0"/>
                <a:ea typeface="Source Serif 4" pitchFamily="18" charset="-122"/>
                <a:cs typeface="Source Serif 4" pitchFamily="18" charset="-120"/>
              </a:rPr>
              <a:t>One big prompt vs. a team of specialists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273301"/>
          <a:ext cx="10556240" cy="3058160"/>
        </p:xfrm>
        <a:graphic>
          <a:graphicData uri="http://schemas.openxmlformats.org/drawingml/2006/table">
            <a:tbl>
              <a:tblPr/>
              <a:tblGrid>
                <a:gridCol w="2955747"/>
                <a:gridCol w="3800246"/>
                <a:gridCol w="3800246"/>
              </a:tblGrid>
              <a:tr h="436880">
                <a:tc>
                  <a:txBody>
                    <a:bodyPr/>
                    <a:lstStyle/>
                    <a:p>
                      <a:pPr indent="0" marL="0">
                        <a:lnSpc>
                          <a:spcPts val="2240"/>
                        </a:lnSpc>
                        <a:buNone/>
                      </a:pPr>
                      <a:r>
                        <a:rPr lang="en-US" sz="1600" b="1" dirty="0">
                          <a:solidFill>
                            <a:srgbClr val="13233A"/>
                          </a:solidFill>
                          <a:latin typeface="IBM Plex Sans" pitchFamily="34" charset="0"/>
                          <a:ea typeface="IBM Plex Sans" pitchFamily="34" charset="-122"/>
                          <a:cs typeface="IBM Plex Sans" pitchFamily="34" charset="-120"/>
                        </a:rPr>
                        <a:t>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AFACA6"/>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AFACA6"/>
                      </a:solidFill>
                      <a:prstDash val="solid"/>
                      <a:round/>
                      <a:headEnd type="none" w="med" len="med"/>
                      <a:tailEnd type="none" w="med" len="med"/>
                    </a:lnB>
                    <a:solidFill>
                      <a:srgbClr val="DBD7CF"/>
                    </a:solidFill>
                  </a:tcPr>
                </a:tc>
                <a:tc>
                  <a:txBody>
                    <a:bodyPr/>
                    <a:lstStyle/>
                    <a:p>
                      <a:pPr indent="0" marL="0">
                        <a:lnSpc>
                          <a:spcPts val="2240"/>
                        </a:lnSpc>
                        <a:buNone/>
                      </a:pPr>
                      <a:r>
                        <a:rPr lang="en-US" sz="1600" b="1" dirty="0">
                          <a:solidFill>
                            <a:srgbClr val="13233A"/>
                          </a:solidFill>
                          <a:latin typeface="IBM Plex Sans" pitchFamily="34" charset="0"/>
                          <a:ea typeface="IBM Plex Sans" pitchFamily="34" charset="-122"/>
                          <a:cs typeface="IBM Plex Sans" pitchFamily="34" charset="-120"/>
                        </a:rPr>
                        <a:t>Single chatbot prompt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FACA6"/>
                      </a:solidFill>
                      <a:prstDash val="solid"/>
                      <a:round/>
                      <a:headEnd type="none" w="med" len="med"/>
                      <a:tailEnd type="none" w="med" len="med"/>
                    </a:lnL>
                    <a:lnR w="12700" cap="flat" cmpd="sng" algn="ctr">
                      <a:solidFill>
                        <a:srgbClr val="AFACA6"/>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AFACA6"/>
                      </a:solidFill>
                      <a:prstDash val="solid"/>
                      <a:round/>
                      <a:headEnd type="none" w="med" len="med"/>
                      <a:tailEnd type="none" w="med" len="med"/>
                    </a:lnB>
                    <a:solidFill>
                      <a:srgbClr val="DBD7CF"/>
                    </a:solidFill>
                  </a:tcPr>
                </a:tc>
                <a:tc>
                  <a:txBody>
                    <a:bodyPr/>
                    <a:lstStyle/>
                    <a:p>
                      <a:pPr indent="0" marL="0">
                        <a:lnSpc>
                          <a:spcPts val="2240"/>
                        </a:lnSpc>
                        <a:buNone/>
                      </a:pPr>
                      <a:r>
                        <a:rPr lang="en-US" sz="1600" b="1" dirty="0">
                          <a:solidFill>
                            <a:srgbClr val="13233A"/>
                          </a:solidFill>
                          <a:latin typeface="IBM Plex Sans" pitchFamily="34" charset="0"/>
                          <a:ea typeface="IBM Plex Sans" pitchFamily="34" charset="-122"/>
                          <a:cs typeface="IBM Plex Sans" pitchFamily="34" charset="-120"/>
                        </a:rPr>
                        <a:t>FinSight agents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FACA6"/>
                      </a:solidFill>
                      <a:prstDash val="solid"/>
                      <a:round/>
                      <a:headEnd type="none" w="med" len="med"/>
                      <a:tailEnd type="none" w="med" len="med"/>
                    </a:lnL>
                    <a:lnR w="12700" cap="flat" cmpd="sng" algn="ctr">
                      <a:solidFill>
                        <a:srgbClr val="AFACA6"/>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AFACA6"/>
                      </a:solidFill>
                      <a:prstDash val="solid"/>
                      <a:round/>
                      <a:headEnd type="none" w="med" len="med"/>
                      <a:tailEnd type="none" w="med" len="med"/>
                    </a:lnB>
                    <a:solidFill>
                      <a:srgbClr val="DBD7CF"/>
                    </a:solidFill>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Focus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AFACA6"/>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Everything in one context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AFACA6"/>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Each agent reads only its data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AFACA6"/>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Numbers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Generated by the model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Pulled from SEC XBRL by code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Speed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One long sequential call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Four analysts run in parallel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Compliance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Hope the prompt holds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A dedicated reviewer rewrites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Quality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Unmeasured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Scored on every briefing</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Audit trail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None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Per-agent tokens and latency logged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12"/>
                </a:solidFill>
                <a:latin typeface="IBM Plex Sans" pitchFamily="34" charset="0"/>
                <a:ea typeface="IBM Plex Sans" pitchFamily="34" charset="-122"/>
                <a:cs typeface="IBM Plex Sans" pitchFamily="34" charset="-120"/>
              </a:rPr>
              <a:t>HOW IT WORKS</a:t>
            </a:r>
            <a:endParaRPr lang="en-US" sz="1200" dirty="0"/>
          </a:p>
        </p:txBody>
      </p:sp>
      <p:sp>
        <p:nvSpPr>
          <p:cNvPr id="3" name="Text 1"/>
          <p:cNvSpPr/>
          <p:nvPr>
            <p:ph type="title"/>
          </p:nvPr>
        </p:nvSpPr>
        <p:spPr>
          <a:xfrm>
            <a:off x="812800" y="13817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33A"/>
                </a:solidFill>
                <a:latin typeface="Source Serif 4" pitchFamily="18" charset="0"/>
                <a:ea typeface="Source Serif 4" pitchFamily="18" charset="-122"/>
                <a:cs typeface="Source Serif 4" pitchFamily="18" charset="-120"/>
              </a:rPr>
              <a:t>One ticker in, one checked briefing out</a:t>
            </a:r>
            <a:endParaRPr lang="en-US" sz="3600" dirty="0"/>
          </a:p>
        </p:txBody>
      </p:sp>
      <p:sp>
        <p:nvSpPr>
          <p:cNvPr id="4" name="Shape 2"/>
          <p:cNvSpPr/>
          <p:nvPr/>
        </p:nvSpPr>
        <p:spPr>
          <a:xfrm>
            <a:off x="812800" y="2498725"/>
            <a:ext cx="1905000" cy="1896110"/>
          </a:xfrm>
          <a:prstGeom prst="roundRect">
            <a:avLst>
              <a:gd name="adj" fmla="val 5358"/>
            </a:avLst>
          </a:prstGeom>
          <a:solidFill>
            <a:srgbClr val="13233A"/>
          </a:solidFill>
          <a:ln/>
        </p:spPr>
      </p:sp>
      <p:sp>
        <p:nvSpPr>
          <p:cNvPr id="5" name="Text 3"/>
          <p:cNvSpPr/>
          <p:nvPr/>
        </p:nvSpPr>
        <p:spPr>
          <a:xfrm>
            <a:off x="1016000" y="2701925"/>
            <a:ext cx="154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9A441"/>
                </a:solidFill>
                <a:latin typeface="IBM Plex Sans" pitchFamily="34" charset="0"/>
                <a:ea typeface="IBM Plex Sans" pitchFamily="34" charset="-122"/>
                <a:cs typeface="IBM Plex Sans" pitchFamily="34" charset="-120"/>
              </a:rPr>
              <a:t>1 · Gather</a:t>
            </a:r>
            <a:endParaRPr lang="en-US" sz="1200" dirty="0"/>
          </a:p>
        </p:txBody>
      </p:sp>
      <p:sp>
        <p:nvSpPr>
          <p:cNvPr id="6" name="Text 4"/>
          <p:cNvSpPr/>
          <p:nvPr/>
        </p:nvSpPr>
        <p:spPr>
          <a:xfrm>
            <a:off x="1016000" y="2991486"/>
            <a:ext cx="1549400" cy="122555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F0"/>
                </a:solidFill>
                <a:latin typeface="IBM Plex Sans" pitchFamily="34" charset="0"/>
                <a:ea typeface="IBM Plex Sans" pitchFamily="34" charset="-122"/>
                <a:cs typeface="IBM Plex Sans" pitchFamily="34" charset="-120"/>
              </a:rPr>
              <a:t>Orchestrator calls tools: Finnhub quote, SEC filings, XBRL financials, 10-K text</a:t>
            </a:r>
            <a:endParaRPr lang="en-US" sz="1400" dirty="0"/>
          </a:p>
        </p:txBody>
      </p:sp>
      <p:pic>
        <p:nvPicPr>
          <p:cNvPr id="7" name="Image 0" descr="arrow-right">    </p:cNvPr>
          <p:cNvPicPr>
            <a:picLocks noChangeAspect="1"/>
          </p:cNvPicPr>
          <p:nvPr/>
        </p:nvPicPr>
        <p:blipFill>
          <a:blip r:embed="rId1"/>
          <a:srcRect l="0" r="0" t="0" b="0"/>
          <a:stretch/>
        </p:blipFill>
        <p:spPr>
          <a:xfrm>
            <a:off x="2844800" y="3345182"/>
            <a:ext cx="355600" cy="203200"/>
          </a:xfrm>
          <a:prstGeom prst="rect">
            <a:avLst/>
          </a:prstGeom>
        </p:spPr>
      </p:pic>
      <p:sp>
        <p:nvSpPr>
          <p:cNvPr id="8" name="Text 5"/>
          <p:cNvSpPr/>
          <p:nvPr/>
        </p:nvSpPr>
        <p:spPr>
          <a:xfrm>
            <a:off x="3327400" y="2263139"/>
            <a:ext cx="24853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B12"/>
                </a:solidFill>
                <a:latin typeface="IBM Plex Sans" pitchFamily="34" charset="0"/>
                <a:ea typeface="IBM Plex Sans" pitchFamily="34" charset="-122"/>
                <a:cs typeface="IBM Plex Sans" pitchFamily="34" charset="-120"/>
              </a:rPr>
              <a:t>2 · Analyze in parallel</a:t>
            </a:r>
            <a:endParaRPr lang="en-US" sz="1200" dirty="0"/>
          </a:p>
        </p:txBody>
      </p:sp>
      <p:sp>
        <p:nvSpPr>
          <p:cNvPr id="9" name="Text 6"/>
          <p:cNvSpPr/>
          <p:nvPr/>
        </p:nvSpPr>
        <p:spPr>
          <a:xfrm>
            <a:off x="3330575" y="2555875"/>
            <a:ext cx="2406650" cy="455930"/>
          </a:xfrm>
          <a:prstGeom prst="roundRect">
            <a:avLst>
              <a:gd name="adj" fmla="val 16017"/>
            </a:avLst>
          </a:prstGeom>
          <a:solidFill>
            <a:srgbClr val="FFFDF8"/>
          </a:solidFill>
          <a:ln w="6350">
            <a:solidFill>
              <a:srgbClr val="DDD6C8"/>
            </a:solidFill>
            <a:prstDash val="solid"/>
          </a:ln>
        </p:spPr>
        <p:txBody>
          <a:bodyPr wrap="square" lIns="132917" tIns="82117" rIns="69976" bIns="56717"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Market Analyst</a:t>
            </a:r>
            <a:endParaRPr lang="en-US" sz="1400" dirty="0"/>
          </a:p>
        </p:txBody>
      </p:sp>
      <p:sp>
        <p:nvSpPr>
          <p:cNvPr id="10" name="Text 7"/>
          <p:cNvSpPr/>
          <p:nvPr/>
        </p:nvSpPr>
        <p:spPr>
          <a:xfrm>
            <a:off x="3330575" y="3094357"/>
            <a:ext cx="2406650" cy="455930"/>
          </a:xfrm>
          <a:prstGeom prst="roundRect">
            <a:avLst>
              <a:gd name="adj" fmla="val 16017"/>
            </a:avLst>
          </a:prstGeom>
          <a:solidFill>
            <a:srgbClr val="FFFDF8"/>
          </a:solidFill>
          <a:ln w="6350">
            <a:solidFill>
              <a:srgbClr val="DDD6C8"/>
            </a:solidFill>
            <a:prstDash val="solid"/>
          </a:ln>
        </p:spPr>
        <p:txBody>
          <a:bodyPr wrap="square" lIns="132917" tIns="82117" rIns="69976" bIns="56717"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Fundamentals Analyst</a:t>
            </a:r>
            <a:endParaRPr lang="en-US" sz="1400" dirty="0"/>
          </a:p>
        </p:txBody>
      </p:sp>
      <p:sp>
        <p:nvSpPr>
          <p:cNvPr id="11" name="Text 8"/>
          <p:cNvSpPr/>
          <p:nvPr/>
        </p:nvSpPr>
        <p:spPr>
          <a:xfrm>
            <a:off x="3330575" y="3632836"/>
            <a:ext cx="2406650" cy="455930"/>
          </a:xfrm>
          <a:prstGeom prst="roundRect">
            <a:avLst>
              <a:gd name="adj" fmla="val 16017"/>
            </a:avLst>
          </a:prstGeom>
          <a:solidFill>
            <a:srgbClr val="FFFDF8"/>
          </a:solidFill>
          <a:ln w="6350">
            <a:solidFill>
              <a:srgbClr val="DDD6C8"/>
            </a:solidFill>
            <a:prstDash val="solid"/>
          </a:ln>
        </p:spPr>
        <p:txBody>
          <a:bodyPr wrap="square" lIns="132917" tIns="82117" rIns="69976" bIns="56717"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Filings Analyst</a:t>
            </a:r>
            <a:endParaRPr lang="en-US" sz="1400" dirty="0"/>
          </a:p>
        </p:txBody>
      </p:sp>
      <p:sp>
        <p:nvSpPr>
          <p:cNvPr id="12" name="Text 9"/>
          <p:cNvSpPr/>
          <p:nvPr/>
        </p:nvSpPr>
        <p:spPr>
          <a:xfrm>
            <a:off x="3330575" y="4171314"/>
            <a:ext cx="2406650" cy="455930"/>
          </a:xfrm>
          <a:prstGeom prst="roundRect">
            <a:avLst>
              <a:gd name="adj" fmla="val 16017"/>
            </a:avLst>
          </a:prstGeom>
          <a:solidFill>
            <a:srgbClr val="FFFDF8"/>
          </a:solidFill>
          <a:ln w="6350">
            <a:solidFill>
              <a:srgbClr val="DDD6C8"/>
            </a:solidFill>
            <a:prstDash val="solid"/>
          </a:ln>
        </p:spPr>
        <p:txBody>
          <a:bodyPr wrap="square" lIns="132917" tIns="82117" rIns="69976" bIns="56717"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Risk Analyst</a:t>
            </a:r>
            <a:endParaRPr lang="en-US" sz="1400" dirty="0"/>
          </a:p>
        </p:txBody>
      </p:sp>
      <p:pic>
        <p:nvPicPr>
          <p:cNvPr id="13" name="Image 1" descr="arrow-right">    </p:cNvPr>
          <p:cNvPicPr>
            <a:picLocks noChangeAspect="1"/>
          </p:cNvPicPr>
          <p:nvPr/>
        </p:nvPicPr>
        <p:blipFill>
          <a:blip r:embed="rId2"/>
          <a:srcRect l="0" r="0" t="0" b="0"/>
          <a:stretch/>
        </p:blipFill>
        <p:spPr>
          <a:xfrm>
            <a:off x="5867400" y="3345182"/>
            <a:ext cx="355600" cy="203200"/>
          </a:xfrm>
          <a:prstGeom prst="rect">
            <a:avLst/>
          </a:prstGeom>
        </p:spPr>
      </p:pic>
      <p:sp>
        <p:nvSpPr>
          <p:cNvPr id="14" name="Text 10"/>
          <p:cNvSpPr/>
          <p:nvPr/>
        </p:nvSpPr>
        <p:spPr>
          <a:xfrm>
            <a:off x="6350000" y="2268221"/>
            <a:ext cx="51800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B12"/>
                </a:solidFill>
                <a:latin typeface="IBM Plex Sans" pitchFamily="34" charset="0"/>
                <a:ea typeface="IBM Plex Sans" pitchFamily="34" charset="-122"/>
                <a:cs typeface="IBM Plex Sans" pitchFamily="34" charset="-120"/>
              </a:rPr>
              <a:t>3 · Write, check, score</a:t>
            </a:r>
            <a:endParaRPr lang="en-US" sz="1200" dirty="0"/>
          </a:p>
        </p:txBody>
      </p:sp>
      <p:sp>
        <p:nvSpPr>
          <p:cNvPr id="15" name="Text 11"/>
          <p:cNvSpPr/>
          <p:nvPr/>
        </p:nvSpPr>
        <p:spPr>
          <a:xfrm>
            <a:off x="6353175" y="2560957"/>
            <a:ext cx="5022850" cy="455930"/>
          </a:xfrm>
          <a:prstGeom prst="roundRect">
            <a:avLst>
              <a:gd name="adj" fmla="val 16017"/>
            </a:avLst>
          </a:prstGeom>
          <a:solidFill>
            <a:srgbClr val="FFFDF8"/>
          </a:solidFill>
          <a:ln w="6350">
            <a:solidFill>
              <a:srgbClr val="DDD6C8"/>
            </a:solidFill>
            <a:prstDash val="solid"/>
          </a:ln>
        </p:spPr>
        <p:txBody>
          <a:bodyPr wrap="square" lIns="132917" tIns="82117" rIns="0" bIns="56717"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Briefing Writer</a:t>
            </a:r>
            <a:endParaRPr lang="en-US" sz="1400" dirty="0"/>
          </a:p>
        </p:txBody>
      </p:sp>
      <p:sp>
        <p:nvSpPr>
          <p:cNvPr id="16" name="Text 12"/>
          <p:cNvSpPr/>
          <p:nvPr/>
        </p:nvSpPr>
        <p:spPr>
          <a:xfrm>
            <a:off x="6353175" y="3099436"/>
            <a:ext cx="5022850" cy="455930"/>
          </a:xfrm>
          <a:prstGeom prst="roundRect">
            <a:avLst>
              <a:gd name="adj" fmla="val 16017"/>
            </a:avLst>
          </a:prstGeom>
          <a:solidFill>
            <a:srgbClr val="FFFDF8"/>
          </a:solidFill>
          <a:ln w="6350">
            <a:solidFill>
              <a:srgbClr val="DDD6C8"/>
            </a:solidFill>
            <a:prstDash val="solid"/>
          </a:ln>
        </p:spPr>
        <p:txBody>
          <a:bodyPr wrap="square" lIns="132917" tIns="82117" rIns="0" bIns="56717"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Compliance Reviewer</a:t>
            </a:r>
            <a:endParaRPr lang="en-US" sz="1400" dirty="0"/>
          </a:p>
        </p:txBody>
      </p:sp>
      <p:sp>
        <p:nvSpPr>
          <p:cNvPr id="17" name="Text 13"/>
          <p:cNvSpPr/>
          <p:nvPr/>
        </p:nvSpPr>
        <p:spPr>
          <a:xfrm>
            <a:off x="6353175" y="3637914"/>
            <a:ext cx="5022850" cy="455930"/>
          </a:xfrm>
          <a:prstGeom prst="roundRect">
            <a:avLst>
              <a:gd name="adj" fmla="val 16017"/>
            </a:avLst>
          </a:prstGeom>
          <a:solidFill>
            <a:srgbClr val="FFFDF8"/>
          </a:solidFill>
          <a:ln w="6350">
            <a:solidFill>
              <a:srgbClr val="DDD6C8"/>
            </a:solidFill>
            <a:prstDash val="solid"/>
          </a:ln>
        </p:spPr>
        <p:txBody>
          <a:bodyPr wrap="square" lIns="132917" tIns="82117" rIns="0" bIns="56717"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Evaluator (LLM judge)</a:t>
            </a:r>
            <a:endParaRPr lang="en-US" sz="1400" dirty="0"/>
          </a:p>
        </p:txBody>
      </p:sp>
      <p:sp>
        <p:nvSpPr>
          <p:cNvPr id="18" name="Text 14"/>
          <p:cNvSpPr/>
          <p:nvPr/>
        </p:nvSpPr>
        <p:spPr>
          <a:xfrm>
            <a:off x="6350000" y="4173221"/>
            <a:ext cx="5029200" cy="452120"/>
          </a:xfrm>
          <a:prstGeom prst="roundRect">
            <a:avLst>
              <a:gd name="adj" fmla="val 16854"/>
            </a:avLst>
          </a:prstGeom>
          <a:solidFill>
            <a:srgbClr val="D9A441"/>
          </a:solidFill>
          <a:ln/>
        </p:spPr>
        <p:txBody>
          <a:bodyPr wrap="square" lIns="130082" tIns="79282" rIns="0" bIns="53882"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Saved to Supabase → app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12"/>
                </a:solidFill>
                <a:latin typeface="IBM Plex Sans" pitchFamily="34" charset="0"/>
                <a:ea typeface="IBM Plex Sans" pitchFamily="34" charset="-122"/>
                <a:cs typeface="IBM Plex Sans" pitchFamily="34" charset="-120"/>
              </a:rPr>
              <a:t>THE AGENTS</a:t>
            </a:r>
            <a:endParaRPr lang="en-US" sz="1200" dirty="0"/>
          </a:p>
        </p:txBody>
      </p:sp>
      <p:sp>
        <p:nvSpPr>
          <p:cNvPr id="3" name="Text 1"/>
          <p:cNvSpPr/>
          <p:nvPr>
            <p:ph type="title"/>
          </p:nvPr>
        </p:nvSpPr>
        <p:spPr>
          <a:xfrm>
            <a:off x="812800" y="13309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33A"/>
                </a:solidFill>
                <a:latin typeface="Source Serif 4" pitchFamily="18" charset="0"/>
                <a:ea typeface="Source Serif 4" pitchFamily="18" charset="-122"/>
                <a:cs typeface="Source Serif 4" pitchFamily="18" charset="-120"/>
              </a:rPr>
              <a:t>Each agent owns one problem</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171699"/>
          <a:ext cx="10556240" cy="3451860"/>
        </p:xfrm>
        <a:graphic>
          <a:graphicData uri="http://schemas.openxmlformats.org/drawingml/2006/table">
            <a:tbl>
              <a:tblPr/>
              <a:tblGrid>
                <a:gridCol w="3166872"/>
                <a:gridCol w="7389368"/>
              </a:tblGrid>
              <a:tr h="383540">
                <a:tc>
                  <a:txBody>
                    <a:bodyPr/>
                    <a:lstStyle/>
                    <a:p>
                      <a:pPr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Agent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Problem it solves for the advisor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Orchestrator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Resolves the ticker, gathers data, runs the team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Market Analyst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“Where is the stock trading, and how has it moved?”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Fundamentals Analyst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Four years of revenue, earnings and EPS from SEC 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Filings Analyst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Business, segments and outlook from the 10-K, plus recent filings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Risk Analyst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Top 5 risk factors, each backed by a quote from the 10-K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Briefing Writer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Summary, key takeaways, talking points and client questions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Compliance Reviewer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Removes advice, predictions and guarantees; adds a disclaimer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Evaluator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Scores the briefing and lists any unsupported claims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D9A441"/>
                </a:solidFill>
                <a:latin typeface="IBM Plex Sans" pitchFamily="34" charset="0"/>
                <a:ea typeface="IBM Plex Sans" pitchFamily="34" charset="-122"/>
                <a:cs typeface="IBM Plex Sans" pitchFamily="34" charset="-120"/>
              </a:rPr>
              <a:t>TRUST LAYER</a:t>
            </a:r>
            <a:endParaRPr lang="en-US" sz="1200" dirty="0"/>
          </a:p>
        </p:txBody>
      </p:sp>
      <p:sp>
        <p:nvSpPr>
          <p:cNvPr id="3" name="Text 1"/>
          <p:cNvSpPr/>
          <p:nvPr>
            <p:ph type="title"/>
          </p:nvPr>
        </p:nvSpPr>
        <p:spPr>
          <a:xfrm>
            <a:off x="812800" y="13817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5F0"/>
                </a:solidFill>
                <a:latin typeface="Source Serif 4" pitchFamily="18" charset="0"/>
                <a:ea typeface="Source Serif 4" pitchFamily="18" charset="-122"/>
                <a:cs typeface="Source Serif 4" pitchFamily="18" charset="-120"/>
              </a:rPr>
              <a:t>Built so an advisor can repeat it to a client</a:t>
            </a:r>
            <a:endParaRPr lang="en-US" sz="3600" dirty="0"/>
          </a:p>
        </p:txBody>
      </p:sp>
      <p:sp>
        <p:nvSpPr>
          <p:cNvPr id="4" name="Shape 2"/>
          <p:cNvSpPr/>
          <p:nvPr/>
        </p:nvSpPr>
        <p:spPr>
          <a:xfrm>
            <a:off x="812800" y="2275839"/>
            <a:ext cx="3386614" cy="0"/>
          </a:xfrm>
          <a:prstGeom prst="line">
            <a:avLst/>
          </a:prstGeom>
          <a:noFill/>
          <a:ln w="25400">
            <a:solidFill>
              <a:srgbClr val="D9A441"/>
            </a:solidFill>
            <a:prstDash val="solid"/>
          </a:ln>
        </p:spPr>
      </p:sp>
      <p:pic>
        <p:nvPicPr>
          <p:cNvPr id="5" name="Image 0" descr="Database">    </p:cNvPr>
          <p:cNvPicPr>
            <a:picLocks noChangeAspect="1"/>
          </p:cNvPicPr>
          <p:nvPr/>
        </p:nvPicPr>
        <p:blipFill>
          <a:blip r:embed="rId1"/>
          <a:srcRect l="0" r="0" t="0" b="0"/>
          <a:stretch/>
        </p:blipFill>
        <p:spPr>
          <a:xfrm>
            <a:off x="812800" y="2491739"/>
            <a:ext cx="355600" cy="355600"/>
          </a:xfrm>
          <a:prstGeom prst="rect">
            <a:avLst/>
          </a:prstGeom>
        </p:spPr>
      </p:pic>
      <p:sp>
        <p:nvSpPr>
          <p:cNvPr id="6" name="Text 3"/>
          <p:cNvSpPr/>
          <p:nvPr/>
        </p:nvSpPr>
        <p:spPr>
          <a:xfrm>
            <a:off x="812800" y="2948939"/>
            <a:ext cx="348821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F0"/>
                </a:solidFill>
                <a:latin typeface="IBM Plex Sans" pitchFamily="34" charset="0"/>
                <a:ea typeface="IBM Plex Sans" pitchFamily="34" charset="-122"/>
                <a:cs typeface="IBM Plex Sans" pitchFamily="34" charset="-120"/>
              </a:rPr>
              <a:t>Real numbers</a:t>
            </a:r>
            <a:endParaRPr lang="en-US" sz="2200" dirty="0"/>
          </a:p>
        </p:txBody>
      </p:sp>
      <p:sp>
        <p:nvSpPr>
          <p:cNvPr id="7" name="Text 4"/>
          <p:cNvSpPr/>
          <p:nvPr/>
        </p:nvSpPr>
        <p:spPr>
          <a:xfrm>
            <a:off x="812800" y="3385821"/>
            <a:ext cx="3488212"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Financials come straight from SEC XBRL in code. The LLM explains them but never writes them.</a:t>
            </a:r>
            <a:endParaRPr lang="en-US" sz="1600" dirty="0"/>
          </a:p>
        </p:txBody>
      </p:sp>
      <p:sp>
        <p:nvSpPr>
          <p:cNvPr id="8" name="Shape 5"/>
          <p:cNvSpPr/>
          <p:nvPr/>
        </p:nvSpPr>
        <p:spPr>
          <a:xfrm>
            <a:off x="4402614" y="2275839"/>
            <a:ext cx="3386693" cy="0"/>
          </a:xfrm>
          <a:prstGeom prst="line">
            <a:avLst/>
          </a:prstGeom>
          <a:noFill/>
          <a:ln w="25400">
            <a:solidFill>
              <a:srgbClr val="D9A441"/>
            </a:solidFill>
            <a:prstDash val="solid"/>
          </a:ln>
        </p:spPr>
      </p:sp>
      <p:pic>
        <p:nvPicPr>
          <p:cNvPr id="9" name="Image 1" descr="Verified">    </p:cNvPr>
          <p:cNvPicPr>
            <a:picLocks noChangeAspect="1"/>
          </p:cNvPicPr>
          <p:nvPr/>
        </p:nvPicPr>
        <p:blipFill>
          <a:blip r:embed="rId2"/>
          <a:srcRect l="0" r="0" t="0" b="0"/>
          <a:stretch/>
        </p:blipFill>
        <p:spPr>
          <a:xfrm>
            <a:off x="4402614" y="2491739"/>
            <a:ext cx="355600" cy="355600"/>
          </a:xfrm>
          <a:prstGeom prst="rect">
            <a:avLst/>
          </a:prstGeom>
        </p:spPr>
      </p:pic>
      <p:sp>
        <p:nvSpPr>
          <p:cNvPr id="10" name="Text 6"/>
          <p:cNvSpPr/>
          <p:nvPr/>
        </p:nvSpPr>
        <p:spPr>
          <a:xfrm>
            <a:off x="4402614" y="2948939"/>
            <a:ext cx="348829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F0"/>
                </a:solidFill>
                <a:latin typeface="IBM Plex Sans" pitchFamily="34" charset="0"/>
                <a:ea typeface="IBM Plex Sans" pitchFamily="34" charset="-122"/>
                <a:cs typeface="IBM Plex Sans" pitchFamily="34" charset="-120"/>
              </a:rPr>
              <a:t>Compliance pass</a:t>
            </a:r>
            <a:endParaRPr lang="en-US" sz="2200" dirty="0"/>
          </a:p>
        </p:txBody>
      </p:sp>
      <p:sp>
        <p:nvSpPr>
          <p:cNvPr id="11" name="Text 7"/>
          <p:cNvSpPr/>
          <p:nvPr/>
        </p:nvSpPr>
        <p:spPr>
          <a:xfrm>
            <a:off x="4402614" y="3385821"/>
            <a:ext cx="348829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A separate agent rewrites any buy/sell, price-target or guarantee language and logs each fix.</a:t>
            </a:r>
            <a:endParaRPr lang="en-US" sz="1600" dirty="0"/>
          </a:p>
        </p:txBody>
      </p:sp>
      <p:sp>
        <p:nvSpPr>
          <p:cNvPr id="12" name="Shape 8"/>
          <p:cNvSpPr/>
          <p:nvPr/>
        </p:nvSpPr>
        <p:spPr>
          <a:xfrm>
            <a:off x="7992507" y="2275839"/>
            <a:ext cx="3386693" cy="0"/>
          </a:xfrm>
          <a:prstGeom prst="line">
            <a:avLst/>
          </a:prstGeom>
          <a:noFill/>
          <a:ln w="25400">
            <a:solidFill>
              <a:srgbClr val="D9A441"/>
            </a:solidFill>
            <a:prstDash val="solid"/>
          </a:ln>
        </p:spPr>
      </p:sp>
      <p:pic>
        <p:nvPicPr>
          <p:cNvPr id="13" name="Image 2" descr="Link">    </p:cNvPr>
          <p:cNvPicPr>
            <a:picLocks noChangeAspect="1"/>
          </p:cNvPicPr>
          <p:nvPr/>
        </p:nvPicPr>
        <p:blipFill>
          <a:blip r:embed="rId3"/>
          <a:srcRect l="0" r="0" t="0" b="0"/>
          <a:stretch/>
        </p:blipFill>
        <p:spPr>
          <a:xfrm>
            <a:off x="7992507" y="2491739"/>
            <a:ext cx="355600" cy="355600"/>
          </a:xfrm>
          <a:prstGeom prst="rect">
            <a:avLst/>
          </a:prstGeom>
        </p:spPr>
      </p:pic>
      <p:sp>
        <p:nvSpPr>
          <p:cNvPr id="14" name="Text 9"/>
          <p:cNvSpPr/>
          <p:nvPr/>
        </p:nvSpPr>
        <p:spPr>
          <a:xfrm>
            <a:off x="7992507" y="2948939"/>
            <a:ext cx="348829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F0"/>
                </a:solidFill>
                <a:latin typeface="IBM Plex Sans" pitchFamily="34" charset="0"/>
                <a:ea typeface="IBM Plex Sans" pitchFamily="34" charset="-122"/>
                <a:cs typeface="IBM Plex Sans" pitchFamily="34" charset="-120"/>
              </a:rPr>
              <a:t>Evidence attached</a:t>
            </a:r>
            <a:endParaRPr lang="en-US" sz="2200" dirty="0"/>
          </a:p>
        </p:txBody>
      </p:sp>
      <p:sp>
        <p:nvSpPr>
          <p:cNvPr id="15" name="Text 10"/>
          <p:cNvSpPr/>
          <p:nvPr/>
        </p:nvSpPr>
        <p:spPr>
          <a:xfrm>
            <a:off x="7992507" y="3385821"/>
            <a:ext cx="348829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Each risk quotes the 10-K word for word, and the briefing links the filings it used.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12"/>
                </a:solidFill>
                <a:latin typeface="IBM Plex Sans" pitchFamily="34" charset="0"/>
                <a:ea typeface="IBM Plex Sans" pitchFamily="34" charset="-122"/>
                <a:cs typeface="IBM Plex Sans" pitchFamily="34" charset="-120"/>
              </a:rPr>
              <a:t>LLM EVALUATION</a:t>
            </a:r>
            <a:endParaRPr lang="en-US" sz="1200" dirty="0"/>
          </a:p>
        </p:txBody>
      </p:sp>
      <p:sp>
        <p:nvSpPr>
          <p:cNvPr id="3" name="Text 1"/>
          <p:cNvSpPr/>
          <p:nvPr>
            <p:ph type="title"/>
          </p:nvPr>
        </p:nvSpPr>
        <p:spPr>
          <a:xfrm>
            <a:off x="812800" y="13817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33A"/>
                </a:solidFill>
                <a:latin typeface="Source Serif 4" pitchFamily="18" charset="0"/>
                <a:ea typeface="Source Serif 4" pitchFamily="18" charset="-122"/>
                <a:cs typeface="Source Serif 4" pitchFamily="18" charset="-120"/>
              </a:rPr>
              <a:t>Every briefing is graded, three ways</a:t>
            </a:r>
            <a:endParaRPr lang="en-US" sz="3600" dirty="0"/>
          </a:p>
        </p:txBody>
      </p:sp>
      <p:sp>
        <p:nvSpPr>
          <p:cNvPr id="4" name="Shape 2"/>
          <p:cNvSpPr/>
          <p:nvPr/>
        </p:nvSpPr>
        <p:spPr>
          <a:xfrm>
            <a:off x="815975" y="2266314"/>
            <a:ext cx="3380264" cy="2259330"/>
          </a:xfrm>
          <a:prstGeom prst="roundRect">
            <a:avLst>
              <a:gd name="adj" fmla="val 4356"/>
            </a:avLst>
          </a:prstGeom>
          <a:solidFill>
            <a:srgbClr val="FFFDF8"/>
          </a:solidFill>
          <a:ln w="6350">
            <a:solidFill>
              <a:srgbClr val="DDD6C8"/>
            </a:solidFill>
            <a:prstDash val="solid"/>
          </a:ln>
        </p:spPr>
      </p:sp>
      <p:sp>
        <p:nvSpPr>
          <p:cNvPr id="5" name="Text 3"/>
          <p:cNvSpPr/>
          <p:nvPr/>
        </p:nvSpPr>
        <p:spPr>
          <a:xfrm>
            <a:off x="1071880" y="2522221"/>
            <a:ext cx="29545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B12"/>
                </a:solidFill>
                <a:latin typeface="IBM Plex Sans" pitchFamily="34" charset="0"/>
                <a:ea typeface="IBM Plex Sans" pitchFamily="34" charset="-122"/>
                <a:cs typeface="IBM Plex Sans" pitchFamily="34" charset="-120"/>
              </a:rPr>
              <a:t>Every run · free</a:t>
            </a:r>
            <a:endParaRPr lang="en-US" sz="1200" dirty="0"/>
          </a:p>
        </p:txBody>
      </p:sp>
      <p:sp>
        <p:nvSpPr>
          <p:cNvPr id="6" name="Text 4"/>
          <p:cNvSpPr/>
          <p:nvPr/>
        </p:nvSpPr>
        <p:spPr>
          <a:xfrm>
            <a:off x="1071880" y="2837182"/>
            <a:ext cx="295450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Rule checks</a:t>
            </a:r>
            <a:endParaRPr lang="en-US" sz="2200" dirty="0"/>
          </a:p>
        </p:txBody>
      </p:sp>
      <p:sp>
        <p:nvSpPr>
          <p:cNvPr id="7" name="Text 5"/>
          <p:cNvSpPr/>
          <p:nvPr/>
        </p:nvSpPr>
        <p:spPr>
          <a:xfrm>
            <a:off x="1071880" y="3274061"/>
            <a:ext cx="295450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Disclaimer present, no banned phrases, fresh quote, and financials, risks and summary all present.</a:t>
            </a:r>
            <a:endParaRPr lang="en-US" sz="1400" dirty="0"/>
          </a:p>
        </p:txBody>
      </p:sp>
      <p:sp>
        <p:nvSpPr>
          <p:cNvPr id="8" name="Shape 6"/>
          <p:cNvSpPr/>
          <p:nvPr/>
        </p:nvSpPr>
        <p:spPr>
          <a:xfrm>
            <a:off x="4405789" y="2266314"/>
            <a:ext cx="3380343" cy="2259330"/>
          </a:xfrm>
          <a:prstGeom prst="roundRect">
            <a:avLst>
              <a:gd name="adj" fmla="val 4356"/>
            </a:avLst>
          </a:prstGeom>
          <a:solidFill>
            <a:srgbClr val="FFFDF8"/>
          </a:solidFill>
          <a:ln w="6350">
            <a:solidFill>
              <a:srgbClr val="DDD6C8"/>
            </a:solidFill>
            <a:prstDash val="solid"/>
          </a:ln>
        </p:spPr>
      </p:sp>
      <p:sp>
        <p:nvSpPr>
          <p:cNvPr id="9" name="Text 7"/>
          <p:cNvSpPr/>
          <p:nvPr/>
        </p:nvSpPr>
        <p:spPr>
          <a:xfrm>
            <a:off x="4661694" y="2522221"/>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B12"/>
                </a:solidFill>
                <a:latin typeface="IBM Plex Sans" pitchFamily="34" charset="0"/>
                <a:ea typeface="IBM Plex Sans" pitchFamily="34" charset="-122"/>
                <a:cs typeface="IBM Plex Sans" pitchFamily="34" charset="-120"/>
              </a:rPr>
              <a:t>Every run · LLM judge</a:t>
            </a:r>
            <a:endParaRPr lang="en-US" sz="1200" dirty="0"/>
          </a:p>
        </p:txBody>
      </p:sp>
      <p:sp>
        <p:nvSpPr>
          <p:cNvPr id="10" name="Text 8"/>
          <p:cNvSpPr/>
          <p:nvPr/>
        </p:nvSpPr>
        <p:spPr>
          <a:xfrm>
            <a:off x="4661694" y="2837182"/>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Evaluator agent</a:t>
            </a:r>
            <a:endParaRPr lang="en-US" sz="2200" dirty="0"/>
          </a:p>
        </p:txBody>
      </p:sp>
      <p:sp>
        <p:nvSpPr>
          <p:cNvPr id="11" name="Text 9"/>
          <p:cNvSpPr/>
          <p:nvPr/>
        </p:nvSpPr>
        <p:spPr>
          <a:xfrm>
            <a:off x="4661694" y="3274061"/>
            <a:ext cx="2954589"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Scores faithfulness, completeness, compliance and clarity from 1 to 5 against the raw data, and lists unsupported claims.</a:t>
            </a:r>
            <a:endParaRPr lang="en-US" sz="1400" dirty="0"/>
          </a:p>
        </p:txBody>
      </p:sp>
      <p:sp>
        <p:nvSpPr>
          <p:cNvPr id="12" name="Shape 10"/>
          <p:cNvSpPr/>
          <p:nvPr/>
        </p:nvSpPr>
        <p:spPr>
          <a:xfrm>
            <a:off x="7995682" y="2266314"/>
            <a:ext cx="3380343" cy="2259330"/>
          </a:xfrm>
          <a:prstGeom prst="roundRect">
            <a:avLst>
              <a:gd name="adj" fmla="val 4356"/>
            </a:avLst>
          </a:prstGeom>
          <a:solidFill>
            <a:srgbClr val="FFFDF8"/>
          </a:solidFill>
          <a:ln w="6350">
            <a:solidFill>
              <a:srgbClr val="DDD6C8"/>
            </a:solidFill>
            <a:prstDash val="solid"/>
          </a:ln>
        </p:spPr>
      </p:sp>
      <p:sp>
        <p:nvSpPr>
          <p:cNvPr id="13" name="Text 11"/>
          <p:cNvSpPr/>
          <p:nvPr/>
        </p:nvSpPr>
        <p:spPr>
          <a:xfrm>
            <a:off x="8251587" y="2522221"/>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B12"/>
                </a:solidFill>
                <a:latin typeface="IBM Plex Sans" pitchFamily="34" charset="0"/>
                <a:ea typeface="IBM Plex Sans" pitchFamily="34" charset="-122"/>
                <a:cs typeface="IBM Plex Sans" pitchFamily="34" charset="-120"/>
              </a:rPr>
              <a:t>On demand · offline</a:t>
            </a:r>
            <a:endParaRPr lang="en-US" sz="1200" dirty="0"/>
          </a:p>
        </p:txBody>
      </p:sp>
      <p:sp>
        <p:nvSpPr>
          <p:cNvPr id="14" name="Text 12"/>
          <p:cNvSpPr/>
          <p:nvPr/>
        </p:nvSpPr>
        <p:spPr>
          <a:xfrm>
            <a:off x="8251587" y="2837182"/>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Golden set</a:t>
            </a:r>
            <a:endParaRPr lang="en-US" sz="2200" dirty="0"/>
          </a:p>
        </p:txBody>
      </p:sp>
      <p:sp>
        <p:nvSpPr>
          <p:cNvPr id="15" name="Text 13"/>
          <p:cNvSpPr/>
          <p:nvPr/>
        </p:nvSpPr>
        <p:spPr>
          <a:xfrm>
            <a:off x="8251587" y="3274061"/>
            <a:ext cx="2954589"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npm run eval</a:t>
            </a:r>
            <a:r>
              <a:rPr lang="en-US" sz="1400" dirty="0">
                <a:solidFill>
                  <a:srgbClr val="4A5568"/>
                </a:solidFill>
                <a:latin typeface="IBM Plex Sans" pitchFamily="34" charset="0"/>
                <a:ea typeface="IBM Plex Sans" pitchFamily="34" charset="-122"/>
                <a:cs typeface="IBM Plex Sans" pitchFamily="34" charset="-120"/>
              </a:rPr>
              <a:t> runs 5 tickers across sectors, checks for expected risks and saves a score table.</a:t>
            </a:r>
            <a:endParaRPr lang="en-US" sz="1400" dirty="0"/>
          </a:p>
        </p:txBody>
      </p:sp>
      <p:sp>
        <p:nvSpPr>
          <p:cNvPr id="16" name="Text 14"/>
          <p:cNvSpPr/>
          <p:nvPr/>
        </p:nvSpPr>
        <p:spPr>
          <a:xfrm>
            <a:off x="812800" y="4884421"/>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Every Claude call is logged with tokens and latency, and the app shows that trace under each briefing. Advisors add thumbs up or down.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9A441"/>
        </a:solidFill>
      </p:bgPr>
    </p:bg>
    <p:spTree>
      <p:nvGrpSpPr>
        <p:cNvPr id="1" name=""/>
        <p:cNvGrpSpPr/>
        <p:nvPr/>
      </p:nvGrpSpPr>
      <p:grpSpPr>
        <a:xfrm>
          <a:off x="0" y="0"/>
          <a:ext cx="0" cy="0"/>
          <a:chOff x="0" y="0"/>
          <a:chExt cx="0" cy="0"/>
        </a:xfrm>
      </p:grpSpPr>
      <p:sp>
        <p:nvSpPr>
          <p:cNvPr id="2" name="Text 0"/>
          <p:cNvSpPr/>
          <p:nvPr/>
        </p:nvSpPr>
        <p:spPr>
          <a:xfrm>
            <a:off x="812800" y="19735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3233A"/>
                </a:solidFill>
                <a:latin typeface="IBM Plex Sans" pitchFamily="34" charset="0"/>
                <a:ea typeface="IBM Plex Sans" pitchFamily="34" charset="-122"/>
                <a:cs typeface="IBM Plex Sans" pitchFamily="34" charset="-120"/>
              </a:rPr>
              <a:t>LIVE DEMO</a:t>
            </a:r>
            <a:endParaRPr lang="en-US" sz="1200" dirty="0"/>
          </a:p>
        </p:txBody>
      </p:sp>
      <p:sp>
        <p:nvSpPr>
          <p:cNvPr id="3" name="Text 1"/>
          <p:cNvSpPr/>
          <p:nvPr>
            <p:ph type="title"/>
          </p:nvPr>
        </p:nvSpPr>
        <p:spPr>
          <a:xfrm>
            <a:off x="812800" y="2491742"/>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3233A"/>
                </a:solidFill>
                <a:latin typeface="Source Serif 4" pitchFamily="18" charset="0"/>
                <a:ea typeface="Source Serif 4" pitchFamily="18" charset="-122"/>
                <a:cs typeface="Source Serif 4" pitchFamily="18" charset="-120"/>
              </a:rPr>
              <a:t>Type a ticker. Watch the team work.</a:t>
            </a:r>
            <a:endParaRPr lang="en-US" sz="6000" dirty="0"/>
          </a:p>
        </p:txBody>
      </p:sp>
      <p:sp>
        <p:nvSpPr>
          <p:cNvPr id="4" name="Text 2"/>
          <p:cNvSpPr/>
          <p:nvPr/>
        </p:nvSpPr>
        <p:spPr>
          <a:xfrm>
            <a:off x="812800" y="4396742"/>
            <a:ext cx="1296273" cy="487680"/>
          </a:xfrm>
          <a:prstGeom prst="roundRect">
            <a:avLst>
              <a:gd name="adj" fmla="val 50000"/>
            </a:avLst>
          </a:prstGeom>
          <a:solidFill>
            <a:srgbClr val="13233A"/>
          </a:solidFill>
          <a:ln/>
        </p:spPr>
        <p:txBody>
          <a:bodyPr wrap="none" lIns="0" tIns="0" rIns="0" bIns="0" rtlCol="0" anchor="ctr">
            <a:normAutofit/>
          </a:bodyPr>
          <a:lstStyle/>
          <a:p>
            <a:pPr algn="ctr" indent="0" marL="0">
              <a:lnSpc>
                <a:spcPts val="2240"/>
              </a:lnSpc>
              <a:buNone/>
            </a:pPr>
            <a:r>
              <a:rPr lang="en-US" sz="1600" dirty="0">
                <a:solidFill>
                  <a:srgbClr val="F7F5F0"/>
                </a:solidFill>
                <a:latin typeface="IBM Plex Sans" pitchFamily="34" charset="0"/>
                <a:ea typeface="IBM Plex Sans" pitchFamily="34" charset="-122"/>
                <a:cs typeface="IBM Plex Sans" pitchFamily="34" charset="-120"/>
              </a:rPr>
              <a:t>1 · Sign in</a:t>
            </a:r>
            <a:endParaRPr lang="en-US" sz="1600" dirty="0"/>
          </a:p>
        </p:txBody>
      </p:sp>
      <p:sp>
        <p:nvSpPr>
          <p:cNvPr id="5" name="Text 3"/>
          <p:cNvSpPr/>
          <p:nvPr/>
        </p:nvSpPr>
        <p:spPr>
          <a:xfrm>
            <a:off x="2261473" y="4396742"/>
            <a:ext cx="1760538" cy="487680"/>
          </a:xfrm>
          <a:prstGeom prst="roundRect">
            <a:avLst>
              <a:gd name="adj" fmla="val 50000"/>
            </a:avLst>
          </a:prstGeom>
          <a:solidFill>
            <a:srgbClr val="13233A"/>
          </a:solidFill>
          <a:ln/>
        </p:spPr>
        <p:txBody>
          <a:bodyPr wrap="none" lIns="0" tIns="0" rIns="0" bIns="0" rtlCol="0" anchor="ctr">
            <a:normAutofit/>
          </a:bodyPr>
          <a:lstStyle/>
          <a:p>
            <a:pPr algn="ctr" indent="0" marL="0">
              <a:lnSpc>
                <a:spcPts val="2240"/>
              </a:lnSpc>
              <a:buNone/>
            </a:pPr>
            <a:r>
              <a:rPr lang="en-US" sz="1600" dirty="0">
                <a:solidFill>
                  <a:srgbClr val="F7F5F0"/>
                </a:solidFill>
                <a:latin typeface="IBM Plex Sans" pitchFamily="34" charset="0"/>
                <a:ea typeface="IBM Plex Sans" pitchFamily="34" charset="-122"/>
                <a:cs typeface="IBM Plex Sans" pitchFamily="34" charset="-120"/>
              </a:rPr>
              <a:t>2 · Enter NVDA</a:t>
            </a:r>
            <a:endParaRPr lang="en-US" sz="1600" dirty="0"/>
          </a:p>
        </p:txBody>
      </p:sp>
      <p:sp>
        <p:nvSpPr>
          <p:cNvPr id="6" name="Text 4"/>
          <p:cNvSpPr/>
          <p:nvPr/>
        </p:nvSpPr>
        <p:spPr>
          <a:xfrm>
            <a:off x="4174411" y="4396742"/>
            <a:ext cx="2041366" cy="487680"/>
          </a:xfrm>
          <a:prstGeom prst="roundRect">
            <a:avLst>
              <a:gd name="adj" fmla="val 50000"/>
            </a:avLst>
          </a:prstGeom>
          <a:solidFill>
            <a:srgbClr val="13233A"/>
          </a:solidFill>
          <a:ln/>
        </p:spPr>
        <p:txBody>
          <a:bodyPr wrap="none" lIns="0" tIns="0" rIns="0" bIns="0" rtlCol="0" anchor="ctr">
            <a:normAutofit/>
          </a:bodyPr>
          <a:lstStyle/>
          <a:p>
            <a:pPr algn="ctr" indent="0" marL="0">
              <a:lnSpc>
                <a:spcPts val="2240"/>
              </a:lnSpc>
              <a:buNone/>
            </a:pPr>
            <a:r>
              <a:rPr lang="en-US" sz="1600" dirty="0">
                <a:solidFill>
                  <a:srgbClr val="F7F5F0"/>
                </a:solidFill>
                <a:latin typeface="IBM Plex Sans" pitchFamily="34" charset="0"/>
                <a:ea typeface="IBM Plex Sans" pitchFamily="34" charset="-122"/>
                <a:cs typeface="IBM Plex Sans" pitchFamily="34" charset="-120"/>
              </a:rPr>
              <a:t>3 · Agents run live</a:t>
            </a:r>
            <a:endParaRPr lang="en-US" sz="1600" dirty="0"/>
          </a:p>
        </p:txBody>
      </p:sp>
      <p:sp>
        <p:nvSpPr>
          <p:cNvPr id="7" name="Text 5"/>
          <p:cNvSpPr/>
          <p:nvPr/>
        </p:nvSpPr>
        <p:spPr>
          <a:xfrm>
            <a:off x="6368177" y="4396742"/>
            <a:ext cx="2242344" cy="487680"/>
          </a:xfrm>
          <a:prstGeom prst="roundRect">
            <a:avLst>
              <a:gd name="adj" fmla="val 50000"/>
            </a:avLst>
          </a:prstGeom>
          <a:solidFill>
            <a:srgbClr val="13233A"/>
          </a:solidFill>
          <a:ln/>
        </p:spPr>
        <p:txBody>
          <a:bodyPr wrap="none" lIns="0" tIns="0" rIns="0" bIns="0" rtlCol="0" anchor="ctr">
            <a:normAutofit/>
          </a:bodyPr>
          <a:lstStyle/>
          <a:p>
            <a:pPr algn="ctr" indent="0" marL="0">
              <a:lnSpc>
                <a:spcPts val="2240"/>
              </a:lnSpc>
              <a:buNone/>
            </a:pPr>
            <a:r>
              <a:rPr lang="en-US" sz="1600" dirty="0">
                <a:solidFill>
                  <a:srgbClr val="F7F5F0"/>
                </a:solidFill>
                <a:latin typeface="IBM Plex Sans" pitchFamily="34" charset="0"/>
                <a:ea typeface="IBM Plex Sans" pitchFamily="34" charset="-122"/>
                <a:cs typeface="IBM Plex Sans" pitchFamily="34" charset="-120"/>
              </a:rPr>
              <a:t>4 · Read the briefing</a:t>
            </a:r>
            <a:endParaRPr lang="en-US" sz="1600" dirty="0"/>
          </a:p>
        </p:txBody>
      </p:sp>
      <p:sp>
        <p:nvSpPr>
          <p:cNvPr id="8" name="Text 6"/>
          <p:cNvSpPr/>
          <p:nvPr/>
        </p:nvSpPr>
        <p:spPr>
          <a:xfrm>
            <a:off x="8762921" y="4396742"/>
            <a:ext cx="2244963" cy="487680"/>
          </a:xfrm>
          <a:prstGeom prst="roundRect">
            <a:avLst>
              <a:gd name="adj" fmla="val 50000"/>
            </a:avLst>
          </a:prstGeom>
          <a:solidFill>
            <a:srgbClr val="13233A"/>
          </a:solidFill>
          <a:ln/>
        </p:spPr>
        <p:txBody>
          <a:bodyPr wrap="none" lIns="0" tIns="0" rIns="0" bIns="0" rtlCol="0" anchor="ctr">
            <a:normAutofit/>
          </a:bodyPr>
          <a:lstStyle/>
          <a:p>
            <a:pPr algn="ctr" indent="0" marL="0">
              <a:lnSpc>
                <a:spcPts val="2240"/>
              </a:lnSpc>
              <a:buNone/>
            </a:pPr>
            <a:r>
              <a:rPr lang="en-US" sz="1600" dirty="0">
                <a:solidFill>
                  <a:srgbClr val="F7F5F0"/>
                </a:solidFill>
                <a:latin typeface="IBM Plex Sans" pitchFamily="34" charset="0"/>
                <a:ea typeface="IBM Plex Sans" pitchFamily="34" charset="-122"/>
                <a:cs typeface="IBM Plex Sans" pitchFamily="34" charset="-120"/>
              </a:rPr>
              <a:t>5 · Check the scores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12"/>
                </a:solidFill>
                <a:latin typeface="IBM Plex Sans" pitchFamily="34" charset="0"/>
                <a:ea typeface="IBM Plex Sans" pitchFamily="34" charset="-122"/>
                <a:cs typeface="IBM Plex Sans" pitchFamily="34" charset="-120"/>
              </a:rPr>
              <a:t>UNDER THE HOOD</a:t>
            </a:r>
            <a:endParaRPr lang="en-US" sz="1200" dirty="0"/>
          </a:p>
        </p:txBody>
      </p:sp>
      <p:sp>
        <p:nvSpPr>
          <p:cNvPr id="3" name="Text 1"/>
          <p:cNvSpPr/>
          <p:nvPr>
            <p:ph type="title"/>
          </p:nvPr>
        </p:nvSpPr>
        <p:spPr>
          <a:xfrm>
            <a:off x="812800" y="1381764"/>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33A"/>
                </a:solidFill>
                <a:latin typeface="Source Serif 4" pitchFamily="18" charset="0"/>
                <a:ea typeface="Source Serif 4" pitchFamily="18" charset="-122"/>
                <a:cs typeface="Source Serif 4" pitchFamily="18" charset="-120"/>
              </a:rPr>
              <a:t>A small stack with clear jobs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273302"/>
          <a:ext cx="10556240" cy="3058160"/>
        </p:xfrm>
        <a:graphic>
          <a:graphicData uri="http://schemas.openxmlformats.org/drawingml/2006/table">
            <a:tbl>
              <a:tblPr/>
              <a:tblGrid>
                <a:gridCol w="2955747"/>
                <a:gridCol w="7600493"/>
              </a:tblGrid>
              <a:tr h="436880">
                <a:tc>
                  <a:txBody>
                    <a:bodyPr/>
                    <a:lstStyle/>
                    <a:p>
                      <a:pPr indent="0" marL="0">
                        <a:lnSpc>
                          <a:spcPts val="2240"/>
                        </a:lnSpc>
                        <a:buNone/>
                      </a:pPr>
                      <a:r>
                        <a:rPr lang="en-US" sz="1600" b="1" dirty="0">
                          <a:solidFill>
                            <a:srgbClr val="13233A"/>
                          </a:solidFill>
                          <a:latin typeface="IBM Plex Sans" pitchFamily="34" charset="0"/>
                          <a:ea typeface="IBM Plex Sans" pitchFamily="34" charset="-122"/>
                          <a:cs typeface="IBM Plex Sans" pitchFamily="34" charset="-120"/>
                        </a:rPr>
                        <a:t>Layer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3233A"/>
                          </a:solidFill>
                          <a:latin typeface="IBM Plex Sans" pitchFamily="34" charset="0"/>
                          <a:ea typeface="IBM Plex Sans" pitchFamily="34" charset="-122"/>
                          <a:cs typeface="IBM Plex Sans" pitchFamily="34" charset="-120"/>
                        </a:rPr>
                        <a:t>What we use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App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React Native (Expo) on phones and the web</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API + agents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Node.js and Express on Render, which also serves the web app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LLM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Claude Sonnet 5.5 via the Anthropic SDK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Data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SEC EDGAR (filings, XBRL) and Finnhub (quotes)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Database + auth</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Supabase Postgres with row-level security, Supabase Auth</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Code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GitHub monorepo with a one-click Render blueprint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210"/>
                </a:solidFill>
                <a:latin typeface="IBM Plex Sans" pitchFamily="34" charset="0"/>
                <a:ea typeface="IBM Plex Sans" pitchFamily="34" charset="-122"/>
                <a:cs typeface="IBM Plex Sans" pitchFamily="34" charset="-120"/>
              </a:rPr>
              <a:t>WHAT COMES NEXT</a:t>
            </a:r>
            <a:endParaRPr lang="en-US" sz="1200" dirty="0"/>
          </a:p>
        </p:txBody>
      </p:sp>
      <p:sp>
        <p:nvSpPr>
          <p:cNvPr id="3" name="Text 1"/>
          <p:cNvSpPr/>
          <p:nvPr>
            <p:ph type="title"/>
          </p:nvPr>
        </p:nvSpPr>
        <p:spPr>
          <a:xfrm>
            <a:off x="812800" y="1381764"/>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33A"/>
                </a:solidFill>
                <a:latin typeface="Source Serif 4" pitchFamily="18" charset="0"/>
                <a:ea typeface="Source Serif 4" pitchFamily="18" charset="-122"/>
                <a:cs typeface="Source Serif 4" pitchFamily="18" charset="-120"/>
              </a:rPr>
              <a:t>More agents, same pattern</a:t>
            </a:r>
            <a:endParaRPr lang="en-US" sz="3600" dirty="0"/>
          </a:p>
        </p:txBody>
      </p:sp>
      <p:sp>
        <p:nvSpPr>
          <p:cNvPr id="4" name="Shape 2"/>
          <p:cNvSpPr/>
          <p:nvPr/>
        </p:nvSpPr>
        <p:spPr>
          <a:xfrm>
            <a:off x="815975" y="2266317"/>
            <a:ext cx="5175250" cy="1492250"/>
          </a:xfrm>
          <a:prstGeom prst="roundRect">
            <a:avLst>
              <a:gd name="adj" fmla="val 6596"/>
            </a:avLst>
          </a:prstGeom>
          <a:solidFill>
            <a:srgbClr val="FFFDF8"/>
          </a:solidFill>
          <a:ln w="6350">
            <a:solidFill>
              <a:srgbClr val="DDD6C8"/>
            </a:solidFill>
            <a:prstDash val="solid"/>
          </a:ln>
        </p:spPr>
      </p:sp>
      <p:sp>
        <p:nvSpPr>
          <p:cNvPr id="5" name="Text 3"/>
          <p:cNvSpPr/>
          <p:nvPr/>
        </p:nvSpPr>
        <p:spPr>
          <a:xfrm>
            <a:off x="1071880" y="2522221"/>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Chat with filings</a:t>
            </a:r>
            <a:endParaRPr lang="en-US" sz="2200" dirty="0"/>
          </a:p>
        </p:txBody>
      </p:sp>
      <p:sp>
        <p:nvSpPr>
          <p:cNvPr id="6" name="Text 4"/>
          <p:cNvSpPr/>
          <p:nvPr/>
        </p:nvSpPr>
        <p:spPr>
          <a:xfrm>
            <a:off x="1071880" y="2933700"/>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 Q&amp;A agent answers follow-up questions with citations to the filing text.</a:t>
            </a:r>
            <a:endParaRPr lang="en-US" sz="1600" dirty="0"/>
          </a:p>
        </p:txBody>
      </p:sp>
      <p:sp>
        <p:nvSpPr>
          <p:cNvPr id="7" name="Shape 5"/>
          <p:cNvSpPr/>
          <p:nvPr/>
        </p:nvSpPr>
        <p:spPr>
          <a:xfrm>
            <a:off x="6200775" y="2266317"/>
            <a:ext cx="5175250" cy="1492250"/>
          </a:xfrm>
          <a:prstGeom prst="roundRect">
            <a:avLst>
              <a:gd name="adj" fmla="val 6596"/>
            </a:avLst>
          </a:prstGeom>
          <a:solidFill>
            <a:srgbClr val="FFFDF8"/>
          </a:solidFill>
          <a:ln w="6350">
            <a:solidFill>
              <a:srgbClr val="DDD6C8"/>
            </a:solidFill>
            <a:prstDash val="solid"/>
          </a:ln>
        </p:spPr>
      </p:sp>
      <p:sp>
        <p:nvSpPr>
          <p:cNvPr id="8" name="Text 6"/>
          <p:cNvSpPr/>
          <p:nvPr/>
        </p:nvSpPr>
        <p:spPr>
          <a:xfrm>
            <a:off x="6456680" y="2522221"/>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Watchlist alerts</a:t>
            </a:r>
            <a:endParaRPr lang="en-US" sz="2200" dirty="0"/>
          </a:p>
        </p:txBody>
      </p:sp>
      <p:sp>
        <p:nvSpPr>
          <p:cNvPr id="9" name="Text 7"/>
          <p:cNvSpPr/>
          <p:nvPr/>
        </p:nvSpPr>
        <p:spPr>
          <a:xfrm>
            <a:off x="6456680" y="2933700"/>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New 8-K or 10-Q on a client’s holding? A fresh briefing is waiting.</a:t>
            </a:r>
            <a:endParaRPr lang="en-US" sz="1600" dirty="0"/>
          </a:p>
        </p:txBody>
      </p:sp>
      <p:sp>
        <p:nvSpPr>
          <p:cNvPr id="10" name="Shape 8"/>
          <p:cNvSpPr/>
          <p:nvPr/>
        </p:nvSpPr>
        <p:spPr>
          <a:xfrm>
            <a:off x="815975" y="3968117"/>
            <a:ext cx="5175250" cy="1492250"/>
          </a:xfrm>
          <a:prstGeom prst="roundRect">
            <a:avLst>
              <a:gd name="adj" fmla="val 6596"/>
            </a:avLst>
          </a:prstGeom>
          <a:solidFill>
            <a:srgbClr val="FFFDF8"/>
          </a:solidFill>
          <a:ln w="6350">
            <a:solidFill>
              <a:srgbClr val="DDD6C8"/>
            </a:solidFill>
            <a:prstDash val="solid"/>
          </a:ln>
        </p:spPr>
      </p:sp>
      <p:sp>
        <p:nvSpPr>
          <p:cNvPr id="11" name="Text 9"/>
          <p:cNvSpPr/>
          <p:nvPr/>
        </p:nvSpPr>
        <p:spPr>
          <a:xfrm>
            <a:off x="1071880" y="4224021"/>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Peers and insiders</a:t>
            </a:r>
            <a:endParaRPr lang="en-US" sz="2200" dirty="0"/>
          </a:p>
        </p:txBody>
      </p:sp>
      <p:sp>
        <p:nvSpPr>
          <p:cNvPr id="12" name="Text 10"/>
          <p:cNvSpPr/>
          <p:nvPr/>
        </p:nvSpPr>
        <p:spPr>
          <a:xfrm>
            <a:off x="1071880" y="4635500"/>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Peer comparison and Form 4 insider-activity agents.</a:t>
            </a:r>
            <a:endParaRPr lang="en-US" sz="1600" dirty="0"/>
          </a:p>
        </p:txBody>
      </p:sp>
      <p:sp>
        <p:nvSpPr>
          <p:cNvPr id="13" name="Shape 11"/>
          <p:cNvSpPr/>
          <p:nvPr/>
        </p:nvSpPr>
        <p:spPr>
          <a:xfrm>
            <a:off x="6200775" y="3968117"/>
            <a:ext cx="5175250" cy="1492250"/>
          </a:xfrm>
          <a:prstGeom prst="roundRect">
            <a:avLst>
              <a:gd name="adj" fmla="val 6596"/>
            </a:avLst>
          </a:prstGeom>
          <a:solidFill>
            <a:srgbClr val="FFFDF8"/>
          </a:solidFill>
          <a:ln w="6350">
            <a:solidFill>
              <a:srgbClr val="DDD6C8"/>
            </a:solidFill>
            <a:prstDash val="solid"/>
          </a:ln>
        </p:spPr>
      </p:sp>
      <p:sp>
        <p:nvSpPr>
          <p:cNvPr id="14" name="Text 12"/>
          <p:cNvSpPr/>
          <p:nvPr/>
        </p:nvSpPr>
        <p:spPr>
          <a:xfrm>
            <a:off x="6456680" y="4224021"/>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Claim verifier</a:t>
            </a:r>
            <a:endParaRPr lang="en-US" sz="2200" dirty="0"/>
          </a:p>
        </p:txBody>
      </p:sp>
      <p:sp>
        <p:nvSpPr>
          <p:cNvPr id="15" name="Text 13"/>
          <p:cNvSpPr/>
          <p:nvPr/>
        </p:nvSpPr>
        <p:spPr>
          <a:xfrm>
            <a:off x="6456680" y="4635500"/>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Checks each sentence against its source and sends weak sections back for a retry.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33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A441"/>
          </a:soli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D9A441"/>
                </a:solidFill>
                <a:latin typeface="IBM Plex Sans" pitchFamily="34" charset="0"/>
                <a:ea typeface="IBM Plex Sans" pitchFamily="34" charset="-122"/>
                <a:cs typeface="IBM Plex Sans" pitchFamily="34" charset="-120"/>
              </a:rPr>
              <a:t>FINSIGHT</a:t>
            </a:r>
            <a:endParaRPr lang="en-US" sz="1200" dirty="0"/>
          </a:p>
        </p:txBody>
      </p:sp>
      <p:sp>
        <p:nvSpPr>
          <p:cNvPr id="4" name="Text 2"/>
          <p:cNvSpPr/>
          <p:nvPr>
            <p:ph type="title"/>
          </p:nvPr>
        </p:nvSpPr>
        <p:spPr>
          <a:xfrm>
            <a:off x="812800" y="2306321"/>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Source Serif 4" pitchFamily="18" charset="0"/>
                <a:ea typeface="Source Serif 4" pitchFamily="18" charset="-122"/>
                <a:cs typeface="Source Serif 4" pitchFamily="18" charset="-120"/>
              </a:rPr>
              <a:t>From ticker to client-ready, with the checks built in.</a:t>
            </a:r>
            <a:endParaRPr lang="en-US" sz="6000" dirty="0"/>
          </a:p>
        </p:txBody>
      </p:sp>
      <p:sp>
        <p:nvSpPr>
          <p:cNvPr id="5" name="Text 3"/>
          <p:cNvSpPr/>
          <p:nvPr/>
        </p:nvSpPr>
        <p:spPr>
          <a:xfrm>
            <a:off x="812800" y="4160521"/>
            <a:ext cx="10883392"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D3E0"/>
                </a:solidFill>
                <a:latin typeface="IBM Plex Sans" pitchFamily="34" charset="0"/>
                <a:ea typeface="IBM Plex Sans" pitchFamily="34" charset="-122"/>
                <a:cs typeface="IBM Plex Sans" pitchFamily="34" charset="-120"/>
              </a:rPr>
              <a:t>Questions?</a:t>
            </a:r>
            <a:endParaRPr lang="en-US" sz="2200" dirty="0"/>
          </a:p>
        </p:txBody>
      </p:sp>
      <p:sp>
        <p:nvSpPr>
          <p:cNvPr id="6" name="Text 4"/>
          <p:cNvSpPr/>
          <p:nvPr/>
        </p:nvSpPr>
        <p:spPr>
          <a:xfrm>
            <a:off x="812800" y="58318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[Presenter name] · [GitHub repo link] · [Contact]</a:t>
            </a:r>
            <a:endParaRPr lang="en-US" sz="1200" dirty="0"/>
          </a:p>
        </p:txBody>
      </p:sp>
    </p:spTree>
  </p:cSld>
  <p:clrMapOvr>
    <a:masterClrMapping/>
  </p:clrMapOvr>
</p:sld>
</file>

<file path=ppt/theme/theme1.xml><?xml version="1.0" encoding="utf-8"?>
<a:theme xmlns:a="http://schemas.openxmlformats.org/drawingml/2006/main" name="FinSight: Multi-Agent Stock Briefings for Advisors">
  <a:themeElements>
    <a:clrScheme name="FinSight: Multi-Agent Stock Briefings for Advisors">
      <a:dk1>
        <a:srgbClr val="13233A"/>
      </a:dk1>
      <a:lt1>
        <a:srgbClr val="F7F5F0"/>
      </a:lt1>
      <a:dk2>
        <a:srgbClr val="4C5868"/>
      </a:dk2>
      <a:lt2>
        <a:srgbClr val="E0E0DE"/>
      </a:lt2>
      <a:accent1>
        <a:srgbClr val="9A5B12"/>
      </a:accent1>
      <a:accent2>
        <a:srgbClr val="D9A441"/>
      </a:accent2>
      <a:accent3>
        <a:srgbClr val="8A5210"/>
      </a:accent3>
      <a:accent4>
        <a:srgbClr val="4A5568"/>
      </a:accent4>
      <a:accent5>
        <a:srgbClr val="C9D3E0"/>
      </a:accent5>
      <a:accent6>
        <a:srgbClr val="9AA0A6"/>
      </a:accent6>
      <a:hlink>
        <a:srgbClr val="0563C1"/>
      </a:hlink>
      <a:folHlink>
        <a:srgbClr val="954F72"/>
      </a:folHlink>
    </a:clrScheme>
    <a:fontScheme name="FinSight: Multi-Agent Stock Briefings for Advisor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FinSight: Multi-Agent Stock Briefings for Advisors</dc:title>
  <dc:subject/>
  <dc:creator/>
  <cp:lastModifiedBy/>
  <cp:revision>1</cp:revision>
  <dcterms:created xsi:type="dcterms:W3CDTF">2026-10-26T17:47:53Z</dcterms:created>
  <dcterms:modified xsi:type="dcterms:W3CDTF">2026-10-26T17:47:53Z</dcterms:modified>
</cp:coreProperties>
</file>